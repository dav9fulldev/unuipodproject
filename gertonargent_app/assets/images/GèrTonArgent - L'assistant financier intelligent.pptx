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425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26" Type="http://schemas.openxmlformats.org/officeDocument/2006/relationships/image" Target="../media/image43.png"/><Relationship Id="rId3" Type="http://schemas.openxmlformats.org/officeDocument/2006/relationships/image" Target="../media/image1.png"/><Relationship Id="rId21" Type="http://schemas.openxmlformats.org/officeDocument/2006/relationships/image" Target="../media/image38.png"/><Relationship Id="rId34" Type="http://schemas.openxmlformats.org/officeDocument/2006/relationships/image" Target="../media/image5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5" Type="http://schemas.openxmlformats.org/officeDocument/2006/relationships/image" Target="../media/image42.png"/><Relationship Id="rId3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29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24" Type="http://schemas.openxmlformats.org/officeDocument/2006/relationships/image" Target="../media/image41.png"/><Relationship Id="rId32" Type="http://schemas.openxmlformats.org/officeDocument/2006/relationships/image" Target="../media/image49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23" Type="http://schemas.openxmlformats.org/officeDocument/2006/relationships/image" Target="../media/image40.png"/><Relationship Id="rId28" Type="http://schemas.openxmlformats.org/officeDocument/2006/relationships/image" Target="../media/image45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31" Type="http://schemas.openxmlformats.org/officeDocument/2006/relationships/image" Target="../media/image48.png"/><Relationship Id="rId4" Type="http://schemas.openxmlformats.org/officeDocument/2006/relationships/image" Target="../media/image6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Relationship Id="rId22" Type="http://schemas.openxmlformats.org/officeDocument/2006/relationships/image" Target="../media/image39.png"/><Relationship Id="rId27" Type="http://schemas.openxmlformats.org/officeDocument/2006/relationships/image" Target="../media/image44.png"/><Relationship Id="rId30" Type="http://schemas.openxmlformats.org/officeDocument/2006/relationships/image" Target="../media/image47.png"/><Relationship Id="rId8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18" Type="http://schemas.openxmlformats.org/officeDocument/2006/relationships/image" Target="../media/image63.png"/><Relationship Id="rId3" Type="http://schemas.openxmlformats.org/officeDocument/2006/relationships/image" Target="../media/image1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5" Type="http://schemas.openxmlformats.org/officeDocument/2006/relationships/image" Target="../media/image61.png"/><Relationship Id="rId10" Type="http://schemas.openxmlformats.org/officeDocument/2006/relationships/image" Target="../media/image56.png"/><Relationship Id="rId4" Type="http://schemas.openxmlformats.org/officeDocument/2006/relationships/image" Target="../media/image6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9.png"/><Relationship Id="rId1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65.png"/><Relationship Id="rId12" Type="http://schemas.openxmlformats.org/officeDocument/2006/relationships/image" Target="../media/image68.png"/><Relationship Id="rId17" Type="http://schemas.openxmlformats.org/officeDocument/2006/relationships/image" Target="../media/image73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11" Type="http://schemas.openxmlformats.org/officeDocument/2006/relationships/image" Target="../media/image67.png"/><Relationship Id="rId5" Type="http://schemas.openxmlformats.org/officeDocument/2006/relationships/image" Target="../media/image7.png"/><Relationship Id="rId15" Type="http://schemas.openxmlformats.org/officeDocument/2006/relationships/image" Target="../media/image71.png"/><Relationship Id="rId10" Type="http://schemas.openxmlformats.org/officeDocument/2006/relationships/image" Target="../media/image56.png"/><Relationship Id="rId19" Type="http://schemas.openxmlformats.org/officeDocument/2006/relationships/image" Target="../media/image74.png"/><Relationship Id="rId4" Type="http://schemas.openxmlformats.org/officeDocument/2006/relationships/image" Target="../media/image6.png"/><Relationship Id="rId9" Type="http://schemas.openxmlformats.org/officeDocument/2006/relationships/image" Target="../media/image66.png"/><Relationship Id="rId14" Type="http://schemas.openxmlformats.org/officeDocument/2006/relationships/image" Target="../media/image7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28.png"/><Relationship Id="rId18" Type="http://schemas.openxmlformats.org/officeDocument/2006/relationships/image" Target="../media/image87.png"/><Relationship Id="rId3" Type="http://schemas.openxmlformats.org/officeDocument/2006/relationships/image" Target="../media/image1.png"/><Relationship Id="rId21" Type="http://schemas.openxmlformats.org/officeDocument/2006/relationships/image" Target="../media/image90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17" Type="http://schemas.openxmlformats.org/officeDocument/2006/relationships/image" Target="../media/image86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85.png"/><Relationship Id="rId20" Type="http://schemas.openxmlformats.org/officeDocument/2006/relationships/image" Target="../media/image8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24" Type="http://schemas.openxmlformats.org/officeDocument/2006/relationships/image" Target="../media/image91.png"/><Relationship Id="rId5" Type="http://schemas.openxmlformats.org/officeDocument/2006/relationships/image" Target="../media/image75.png"/><Relationship Id="rId15" Type="http://schemas.openxmlformats.org/officeDocument/2006/relationships/image" Target="../media/image84.png"/><Relationship Id="rId23" Type="http://schemas.openxmlformats.org/officeDocument/2006/relationships/image" Target="../media/image20.png"/><Relationship Id="rId10" Type="http://schemas.openxmlformats.org/officeDocument/2006/relationships/image" Target="../media/image80.png"/><Relationship Id="rId19" Type="http://schemas.openxmlformats.org/officeDocument/2006/relationships/image" Target="../media/image88.png"/><Relationship Id="rId4" Type="http://schemas.openxmlformats.org/officeDocument/2006/relationships/image" Target="../media/image6.png"/><Relationship Id="rId9" Type="http://schemas.openxmlformats.org/officeDocument/2006/relationships/image" Target="../media/image79.png"/><Relationship Id="rId14" Type="http://schemas.openxmlformats.org/officeDocument/2006/relationships/image" Target="../media/image83.png"/><Relationship Id="rId22" Type="http://schemas.openxmlformats.org/officeDocument/2006/relationships/image" Target="../media/image6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99.png"/><Relationship Id="rId18" Type="http://schemas.openxmlformats.org/officeDocument/2006/relationships/image" Target="../media/image104.png"/><Relationship Id="rId3" Type="http://schemas.openxmlformats.org/officeDocument/2006/relationships/image" Target="../media/image1.png"/><Relationship Id="rId21" Type="http://schemas.openxmlformats.org/officeDocument/2006/relationships/image" Target="../media/image107.png"/><Relationship Id="rId7" Type="http://schemas.openxmlformats.org/officeDocument/2006/relationships/image" Target="../media/image93.png"/><Relationship Id="rId12" Type="http://schemas.openxmlformats.org/officeDocument/2006/relationships/image" Target="../media/image98.png"/><Relationship Id="rId17" Type="http://schemas.openxmlformats.org/officeDocument/2006/relationships/image" Target="../media/image103.png"/><Relationship Id="rId25" Type="http://schemas.openxmlformats.org/officeDocument/2006/relationships/image" Target="../media/image110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02.png"/><Relationship Id="rId20" Type="http://schemas.openxmlformats.org/officeDocument/2006/relationships/image" Target="../media/image10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11" Type="http://schemas.openxmlformats.org/officeDocument/2006/relationships/image" Target="../media/image97.png"/><Relationship Id="rId24" Type="http://schemas.openxmlformats.org/officeDocument/2006/relationships/image" Target="../media/image20.png"/><Relationship Id="rId5" Type="http://schemas.openxmlformats.org/officeDocument/2006/relationships/image" Target="../media/image7.png"/><Relationship Id="rId15" Type="http://schemas.openxmlformats.org/officeDocument/2006/relationships/image" Target="../media/image101.png"/><Relationship Id="rId23" Type="http://schemas.openxmlformats.org/officeDocument/2006/relationships/image" Target="../media/image109.png"/><Relationship Id="rId10" Type="http://schemas.openxmlformats.org/officeDocument/2006/relationships/image" Target="../media/image96.png"/><Relationship Id="rId19" Type="http://schemas.openxmlformats.org/officeDocument/2006/relationships/image" Target="../media/image105.png"/><Relationship Id="rId4" Type="http://schemas.openxmlformats.org/officeDocument/2006/relationships/image" Target="../media/image6.png"/><Relationship Id="rId9" Type="http://schemas.openxmlformats.org/officeDocument/2006/relationships/image" Target="../media/image95.png"/><Relationship Id="rId14" Type="http://schemas.openxmlformats.org/officeDocument/2006/relationships/image" Target="../media/image100.png"/><Relationship Id="rId22" Type="http://schemas.openxmlformats.org/officeDocument/2006/relationships/image" Target="../media/image10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113.png"/><Relationship Id="rId3" Type="http://schemas.openxmlformats.org/officeDocument/2006/relationships/image" Target="../media/image1.png"/><Relationship Id="rId7" Type="http://schemas.openxmlformats.org/officeDocument/2006/relationships/image" Target="../media/image65.png"/><Relationship Id="rId12" Type="http://schemas.openxmlformats.org/officeDocument/2006/relationships/image" Target="../media/image69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11" Type="http://schemas.openxmlformats.org/officeDocument/2006/relationships/image" Target="../media/image112.png"/><Relationship Id="rId5" Type="http://schemas.openxmlformats.org/officeDocument/2006/relationships/image" Target="../media/image111.png"/><Relationship Id="rId15" Type="http://schemas.openxmlformats.org/officeDocument/2006/relationships/image" Target="../media/image20.png"/><Relationship Id="rId10" Type="http://schemas.openxmlformats.org/officeDocument/2006/relationships/image" Target="../media/image67.png"/><Relationship Id="rId4" Type="http://schemas.openxmlformats.org/officeDocument/2006/relationships/image" Target="../media/image6.png"/><Relationship Id="rId9" Type="http://schemas.openxmlformats.org/officeDocument/2006/relationships/image" Target="../media/image19.png"/><Relationship Id="rId14" Type="http://schemas.openxmlformats.org/officeDocument/2006/relationships/image" Target="../media/image1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13" Type="http://schemas.openxmlformats.org/officeDocument/2006/relationships/image" Target="../media/image124.png"/><Relationship Id="rId18" Type="http://schemas.openxmlformats.org/officeDocument/2006/relationships/image" Target="../media/image129.png"/><Relationship Id="rId3" Type="http://schemas.openxmlformats.org/officeDocument/2006/relationships/image" Target="../media/image1.png"/><Relationship Id="rId21" Type="http://schemas.openxmlformats.org/officeDocument/2006/relationships/image" Target="../media/image20.png"/><Relationship Id="rId7" Type="http://schemas.openxmlformats.org/officeDocument/2006/relationships/image" Target="../media/image118.png"/><Relationship Id="rId12" Type="http://schemas.openxmlformats.org/officeDocument/2006/relationships/image" Target="../media/image123.png"/><Relationship Id="rId17" Type="http://schemas.openxmlformats.org/officeDocument/2006/relationships/image" Target="../media/image128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27.png"/><Relationship Id="rId20" Type="http://schemas.openxmlformats.org/officeDocument/2006/relationships/image" Target="../media/image1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7.png"/><Relationship Id="rId11" Type="http://schemas.openxmlformats.org/officeDocument/2006/relationships/image" Target="../media/image122.png"/><Relationship Id="rId5" Type="http://schemas.openxmlformats.org/officeDocument/2006/relationships/image" Target="../media/image116.png"/><Relationship Id="rId15" Type="http://schemas.openxmlformats.org/officeDocument/2006/relationships/image" Target="../media/image126.png"/><Relationship Id="rId10" Type="http://schemas.openxmlformats.org/officeDocument/2006/relationships/image" Target="../media/image121.png"/><Relationship Id="rId19" Type="http://schemas.openxmlformats.org/officeDocument/2006/relationships/image" Target="../media/image130.png"/><Relationship Id="rId4" Type="http://schemas.openxmlformats.org/officeDocument/2006/relationships/image" Target="../media/image6.png"/><Relationship Id="rId9" Type="http://schemas.openxmlformats.org/officeDocument/2006/relationships/image" Target="../media/image120.png"/><Relationship Id="rId14" Type="http://schemas.openxmlformats.org/officeDocument/2006/relationships/image" Target="../media/image125.png"/><Relationship Id="rId22" Type="http://schemas.openxmlformats.org/officeDocument/2006/relationships/image" Target="../media/image13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13" Type="http://schemas.openxmlformats.org/officeDocument/2006/relationships/image" Target="../media/image140.png"/><Relationship Id="rId1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35.png"/><Relationship Id="rId12" Type="http://schemas.openxmlformats.org/officeDocument/2006/relationships/image" Target="../media/image139.png"/><Relationship Id="rId17" Type="http://schemas.openxmlformats.org/officeDocument/2006/relationships/image" Target="../media/image143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62.png"/><Relationship Id="rId20" Type="http://schemas.openxmlformats.org/officeDocument/2006/relationships/image" Target="../media/image1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4.png"/><Relationship Id="rId11" Type="http://schemas.openxmlformats.org/officeDocument/2006/relationships/image" Target="../media/image11.png"/><Relationship Id="rId5" Type="http://schemas.openxmlformats.org/officeDocument/2006/relationships/image" Target="../media/image133.png"/><Relationship Id="rId15" Type="http://schemas.openxmlformats.org/officeDocument/2006/relationships/image" Target="../media/image142.png"/><Relationship Id="rId10" Type="http://schemas.openxmlformats.org/officeDocument/2006/relationships/image" Target="../media/image138.png"/><Relationship Id="rId19" Type="http://schemas.openxmlformats.org/officeDocument/2006/relationships/image" Target="../media/image20.png"/><Relationship Id="rId4" Type="http://schemas.openxmlformats.org/officeDocument/2006/relationships/image" Target="../media/image6.png"/><Relationship Id="rId9" Type="http://schemas.openxmlformats.org/officeDocument/2006/relationships/image" Target="../media/image137.png"/><Relationship Id="rId14" Type="http://schemas.openxmlformats.org/officeDocument/2006/relationships/image" Target="../media/image1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5240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6362" y="1831994"/>
            <a:ext cx="4079275" cy="311781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6362" y="1831994"/>
            <a:ext cx="4079275" cy="3117811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0147" y="6134100"/>
            <a:ext cx="2691705" cy="3810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457200" y="457200"/>
            <a:ext cx="11277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GèrTonArgent</a:t>
            </a:r>
            <a:endParaRPr lang="en-US" sz="3600" dirty="0"/>
          </a:p>
        </p:txBody>
      </p:sp>
      <p:sp>
        <p:nvSpPr>
          <p:cNvPr id="8" name="Text 1"/>
          <p:cNvSpPr/>
          <p:nvPr/>
        </p:nvSpPr>
        <p:spPr>
          <a:xfrm>
            <a:off x="-670560" y="1028700"/>
            <a:ext cx="1353312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L'assistant financier intelligent</a:t>
            </a:r>
            <a:endParaRPr lang="en-US" sz="2250" dirty="0"/>
          </a:p>
        </p:txBody>
      </p:sp>
      <p:sp>
        <p:nvSpPr>
          <p:cNvPr id="9" name="Text 2"/>
          <p:cNvSpPr/>
          <p:nvPr/>
        </p:nvSpPr>
        <p:spPr>
          <a:xfrm>
            <a:off x="-670560" y="5219700"/>
            <a:ext cx="13533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L'assistant financier intelligent qui te conseille avant chaque dépense</a:t>
            </a:r>
            <a:endParaRPr lang="en-US" sz="1500" dirty="0"/>
          </a:p>
        </p:txBody>
      </p:sp>
      <p:sp>
        <p:nvSpPr>
          <p:cNvPr id="10" name="Text 3"/>
          <p:cNvSpPr/>
          <p:nvPr/>
        </p:nvSpPr>
        <p:spPr>
          <a:xfrm>
            <a:off x="-670560" y="5562600"/>
            <a:ext cx="13533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Une application mobile basée sur l'IA pour la gestion financière personnelle</a:t>
            </a:r>
            <a:endParaRPr lang="en-US" sz="1350" dirty="0"/>
          </a:p>
        </p:txBody>
      </p:sp>
      <p:sp>
        <p:nvSpPr>
          <p:cNvPr id="11" name="Text 4"/>
          <p:cNvSpPr/>
          <p:nvPr/>
        </p:nvSpPr>
        <p:spPr>
          <a:xfrm>
            <a:off x="4755297" y="6210300"/>
            <a:ext cx="268140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Version Bootcamp IA UniPods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8763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5600" y="1219200"/>
            <a:ext cx="6400800" cy="762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2286000"/>
            <a:ext cx="5715000" cy="609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3124200"/>
            <a:ext cx="5600700" cy="1181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314700"/>
            <a:ext cx="457200" cy="457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850" y="3409950"/>
            <a:ext cx="190500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0300" y="3124200"/>
            <a:ext cx="5600700" cy="1181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3314700"/>
            <a:ext cx="457200" cy="457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34150" y="3409950"/>
            <a:ext cx="190500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000" y="4533900"/>
            <a:ext cx="5600700" cy="11811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4724400"/>
            <a:ext cx="457200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4375" y="4819650"/>
            <a:ext cx="171450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0300" y="4533900"/>
            <a:ext cx="5600700" cy="11811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4724400"/>
            <a:ext cx="457200" cy="457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34150" y="4819650"/>
            <a:ext cx="190500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1000" y="6248400"/>
            <a:ext cx="2234505" cy="2286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207079" y="6248400"/>
            <a:ext cx="1603921" cy="2286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 Problème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3124200" y="1333500"/>
            <a:ext cx="5943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70% des Africains utilisent le Mobile Money comme principal outil financier</a:t>
            </a:r>
            <a:endParaRPr lang="en-US" sz="1500" dirty="0"/>
          </a:p>
        </p:txBody>
      </p:sp>
      <p:sp>
        <p:nvSpPr>
          <p:cNvPr id="22" name="Text 2"/>
          <p:cNvSpPr/>
          <p:nvPr/>
        </p:nvSpPr>
        <p:spPr>
          <a:xfrm>
            <a:off x="1181100" y="3314700"/>
            <a:ext cx="5532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Gestion budgétaire difficile</a:t>
            </a:r>
            <a:endParaRPr lang="en-US" sz="1500" dirty="0"/>
          </a:p>
        </p:txBody>
      </p:sp>
      <p:sp>
        <p:nvSpPr>
          <p:cNvPr id="23" name="Text 3"/>
          <p:cNvSpPr/>
          <p:nvPr/>
        </p:nvSpPr>
        <p:spPr>
          <a:xfrm>
            <a:off x="1181100" y="3657600"/>
            <a:ext cx="4610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 personne sur 2 dépasse son budget mensuel sans outil pour l'alerter</a:t>
            </a:r>
            <a:endParaRPr lang="en-US" sz="1200" dirty="0"/>
          </a:p>
        </p:txBody>
      </p:sp>
      <p:sp>
        <p:nvSpPr>
          <p:cNvPr id="24" name="Text 4"/>
          <p:cNvSpPr/>
          <p:nvPr/>
        </p:nvSpPr>
        <p:spPr>
          <a:xfrm>
            <a:off x="7010400" y="3314700"/>
            <a:ext cx="5532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Manque d'outils de conseil</a:t>
            </a:r>
            <a:endParaRPr lang="en-US" sz="1500" dirty="0"/>
          </a:p>
        </p:txBody>
      </p:sp>
      <p:sp>
        <p:nvSpPr>
          <p:cNvPr id="25" name="Text 5"/>
          <p:cNvSpPr/>
          <p:nvPr/>
        </p:nvSpPr>
        <p:spPr>
          <a:xfrm>
            <a:off x="7010400" y="3657600"/>
            <a:ext cx="4610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Les utilisateurs n'ont aucun outil qui les conseille avant d'effectuer une dépense</a:t>
            </a:r>
            <a:endParaRPr lang="en-US" sz="1200" dirty="0"/>
          </a:p>
        </p:txBody>
      </p:sp>
      <p:sp>
        <p:nvSpPr>
          <p:cNvPr id="26" name="Text 6"/>
          <p:cNvSpPr/>
          <p:nvPr/>
        </p:nvSpPr>
        <p:spPr>
          <a:xfrm>
            <a:off x="1181100" y="4724400"/>
            <a:ext cx="4610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Accès aux API limité</a:t>
            </a:r>
            <a:endParaRPr lang="en-US" sz="1500" dirty="0"/>
          </a:p>
        </p:txBody>
      </p:sp>
      <p:sp>
        <p:nvSpPr>
          <p:cNvPr id="27" name="Text 7"/>
          <p:cNvSpPr/>
          <p:nvPr/>
        </p:nvSpPr>
        <p:spPr>
          <a:xfrm>
            <a:off x="1181100" y="5067300"/>
            <a:ext cx="4610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Les API Mobile Money sont difficiles d'accès, coûteuses ou réservées aux grandes entreprises</a:t>
            </a:r>
            <a:endParaRPr lang="en-US" sz="1200" dirty="0"/>
          </a:p>
        </p:txBody>
      </p:sp>
      <p:sp>
        <p:nvSpPr>
          <p:cNvPr id="28" name="Text 8"/>
          <p:cNvSpPr/>
          <p:nvPr/>
        </p:nvSpPr>
        <p:spPr>
          <a:xfrm>
            <a:off x="7010400" y="4724400"/>
            <a:ext cx="4610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Innovation limitée</a:t>
            </a:r>
            <a:endParaRPr lang="en-US" sz="1500" dirty="0"/>
          </a:p>
        </p:txBody>
      </p:sp>
      <p:sp>
        <p:nvSpPr>
          <p:cNvPr id="29" name="Text 9"/>
          <p:cNvSpPr/>
          <p:nvPr/>
        </p:nvSpPr>
        <p:spPr>
          <a:xfrm>
            <a:off x="7010400" y="5067300"/>
            <a:ext cx="4610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Impossible pour les jeunes startups de créer des solutions innovantes sans accès aux APIs</a:t>
            </a:r>
            <a:endParaRPr lang="en-US" sz="1200" dirty="0"/>
          </a:p>
        </p:txBody>
      </p:sp>
      <p:sp>
        <p:nvSpPr>
          <p:cNvPr id="30" name="Text 10"/>
          <p:cNvSpPr/>
          <p:nvPr/>
        </p:nvSpPr>
        <p:spPr>
          <a:xfrm>
            <a:off x="381000" y="6248400"/>
            <a:ext cx="268140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Version Bootcamp IA UniPods</a:t>
            </a:r>
            <a:endParaRPr lang="en-US" sz="1200" dirty="0"/>
          </a:p>
        </p:txBody>
      </p:sp>
      <p:sp>
        <p:nvSpPr>
          <p:cNvPr id="31" name="Text 11"/>
          <p:cNvSpPr/>
          <p:nvPr/>
        </p:nvSpPr>
        <p:spPr>
          <a:xfrm>
            <a:off x="10207079" y="6248400"/>
            <a:ext cx="192470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2 | Le Problème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7620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1069" y="914400"/>
            <a:ext cx="6989713" cy="495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5525" y="1562100"/>
            <a:ext cx="2286000" cy="1371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8025" y="1676400"/>
            <a:ext cx="3810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71850" y="1733550"/>
            <a:ext cx="13335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95825" y="2095500"/>
            <a:ext cx="142875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0" y="1562100"/>
            <a:ext cx="2286000" cy="1371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05500" y="1676400"/>
            <a:ext cx="3810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00750" y="1733550"/>
            <a:ext cx="190500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3300" y="2095500"/>
            <a:ext cx="142875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0475" y="1562100"/>
            <a:ext cx="2286000" cy="1371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62975" y="1676400"/>
            <a:ext cx="381000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67750" y="1733550"/>
            <a:ext cx="171450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24400" y="3086100"/>
            <a:ext cx="2743200" cy="1219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62141" y="2971800"/>
            <a:ext cx="1267718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23570" y="3924300"/>
            <a:ext cx="747415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85284" y="3924300"/>
            <a:ext cx="883146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04800" y="4457700"/>
            <a:ext cx="2224980" cy="685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64890" y="4533900"/>
            <a:ext cx="30480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50615" y="4591050"/>
            <a:ext cx="133350" cy="1905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644080" y="4457700"/>
            <a:ext cx="2224980" cy="685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604171" y="4533900"/>
            <a:ext cx="304800" cy="304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689896" y="4591050"/>
            <a:ext cx="133350" cy="1905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983361" y="4457700"/>
            <a:ext cx="2225129" cy="6858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943451" y="4533900"/>
            <a:ext cx="304800" cy="3048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029176" y="4591050"/>
            <a:ext cx="133350" cy="1905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322790" y="4457700"/>
            <a:ext cx="2224980" cy="6858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82880" y="4533900"/>
            <a:ext cx="304800" cy="3048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349555" y="4591050"/>
            <a:ext cx="171450" cy="1905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662071" y="4457700"/>
            <a:ext cx="2225129" cy="6858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622161" y="4533900"/>
            <a:ext cx="304800" cy="3048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722173" y="4591050"/>
            <a:ext cx="104775" cy="1905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04800" y="6324600"/>
            <a:ext cx="2234505" cy="2286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0135195" y="6324600"/>
            <a:ext cx="1752005" cy="228600"/>
          </a:xfrm>
          <a:prstGeom prst="rect">
            <a:avLst/>
          </a:prstGeom>
        </p:spPr>
      </p:pic>
      <p:sp>
        <p:nvSpPr>
          <p:cNvPr id="37" name="Text 0"/>
          <p:cNvSpPr/>
          <p:nvPr/>
        </p:nvSpPr>
        <p:spPr>
          <a:xfrm>
            <a:off x="304800" y="304800"/>
            <a:ext cx="11582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Notre Solution</a:t>
            </a:r>
            <a:endParaRPr lang="en-US" sz="2700" dirty="0"/>
          </a:p>
        </p:txBody>
      </p:sp>
      <p:sp>
        <p:nvSpPr>
          <p:cNvPr id="38" name="Text 1"/>
          <p:cNvSpPr/>
          <p:nvPr/>
        </p:nvSpPr>
        <p:spPr>
          <a:xfrm>
            <a:off x="2267858" y="1028700"/>
            <a:ext cx="765613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Une IA embarquée qui surveille, analyse et conseille en temps réel</a:t>
            </a:r>
            <a:endParaRPr lang="en-US" sz="1500" dirty="0"/>
          </a:p>
        </p:txBody>
      </p:sp>
      <p:sp>
        <p:nvSpPr>
          <p:cNvPr id="39" name="Text 2"/>
          <p:cNvSpPr/>
          <p:nvPr/>
        </p:nvSpPr>
        <p:spPr>
          <a:xfrm>
            <a:off x="2409825" y="2133600"/>
            <a:ext cx="2057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Détection</a:t>
            </a:r>
            <a:endParaRPr lang="en-US" sz="1350" dirty="0"/>
          </a:p>
        </p:txBody>
      </p:sp>
      <p:sp>
        <p:nvSpPr>
          <p:cNvPr id="40" name="Text 3"/>
          <p:cNvSpPr/>
          <p:nvPr/>
        </p:nvSpPr>
        <p:spPr>
          <a:xfrm>
            <a:off x="2409825" y="2438400"/>
            <a:ext cx="2057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Détecte les tentatives de paiement dans Mobile Money</a:t>
            </a:r>
            <a:endParaRPr lang="en-US" sz="1050" dirty="0"/>
          </a:p>
        </p:txBody>
      </p:sp>
      <p:sp>
        <p:nvSpPr>
          <p:cNvPr id="41" name="Text 4"/>
          <p:cNvSpPr/>
          <p:nvPr/>
        </p:nvSpPr>
        <p:spPr>
          <a:xfrm>
            <a:off x="5067300" y="2133600"/>
            <a:ext cx="2057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Analyse</a:t>
            </a:r>
            <a:endParaRPr lang="en-US" sz="1350" dirty="0"/>
          </a:p>
        </p:txBody>
      </p:sp>
      <p:sp>
        <p:nvSpPr>
          <p:cNvPr id="42" name="Text 5"/>
          <p:cNvSpPr/>
          <p:nvPr/>
        </p:nvSpPr>
        <p:spPr>
          <a:xfrm>
            <a:off x="5067300" y="2438400"/>
            <a:ext cx="2057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Analyse la dépense par rapport au budget</a:t>
            </a:r>
            <a:endParaRPr lang="en-US" sz="1050" dirty="0"/>
          </a:p>
        </p:txBody>
      </p:sp>
      <p:sp>
        <p:nvSpPr>
          <p:cNvPr id="43" name="Text 6"/>
          <p:cNvSpPr/>
          <p:nvPr/>
        </p:nvSpPr>
        <p:spPr>
          <a:xfrm>
            <a:off x="7724775" y="2133600"/>
            <a:ext cx="2057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Conseil</a:t>
            </a:r>
            <a:endParaRPr lang="en-US" sz="1350" dirty="0"/>
          </a:p>
        </p:txBody>
      </p:sp>
      <p:sp>
        <p:nvSpPr>
          <p:cNvPr id="44" name="Text 7"/>
          <p:cNvSpPr/>
          <p:nvPr/>
        </p:nvSpPr>
        <p:spPr>
          <a:xfrm>
            <a:off x="7724775" y="2438400"/>
            <a:ext cx="2057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Pop-up pour confirmer la dépense</a:t>
            </a:r>
            <a:endParaRPr lang="en-US" sz="1050" dirty="0"/>
          </a:p>
        </p:txBody>
      </p:sp>
      <p:sp>
        <p:nvSpPr>
          <p:cNvPr id="45" name="Text 8"/>
          <p:cNvSpPr/>
          <p:nvPr/>
        </p:nvSpPr>
        <p:spPr>
          <a:xfrm>
            <a:off x="5576441" y="2971800"/>
            <a:ext cx="152126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GèrTonArgent</a:t>
            </a:r>
            <a:endParaRPr lang="en-US" sz="1050" dirty="0"/>
          </a:p>
        </p:txBody>
      </p:sp>
      <p:sp>
        <p:nvSpPr>
          <p:cNvPr id="46" name="Text 9"/>
          <p:cNvSpPr/>
          <p:nvPr/>
        </p:nvSpPr>
        <p:spPr>
          <a:xfrm>
            <a:off x="4587240" y="3200400"/>
            <a:ext cx="3017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Dépense importante</a:t>
            </a:r>
            <a:endParaRPr lang="en-US" sz="1200" dirty="0"/>
          </a:p>
        </p:txBody>
      </p:sp>
      <p:sp>
        <p:nvSpPr>
          <p:cNvPr id="47" name="Text 10"/>
          <p:cNvSpPr/>
          <p:nvPr/>
        </p:nvSpPr>
        <p:spPr>
          <a:xfrm>
            <a:off x="4838700" y="3467100"/>
            <a:ext cx="2514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Cette dépense représente 28% de ton budget</a:t>
            </a:r>
            <a:endParaRPr lang="en-US" sz="1050" dirty="0"/>
          </a:p>
        </p:txBody>
      </p:sp>
      <p:sp>
        <p:nvSpPr>
          <p:cNvPr id="48" name="Text 11"/>
          <p:cNvSpPr/>
          <p:nvPr/>
        </p:nvSpPr>
        <p:spPr>
          <a:xfrm>
            <a:off x="5285988" y="3981450"/>
            <a:ext cx="622578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Annuler</a:t>
            </a:r>
            <a:endParaRPr lang="en-US" sz="1050" dirty="0"/>
          </a:p>
        </p:txBody>
      </p:sp>
      <p:sp>
        <p:nvSpPr>
          <p:cNvPr id="49" name="Text 12"/>
          <p:cNvSpPr/>
          <p:nvPr/>
        </p:nvSpPr>
        <p:spPr>
          <a:xfrm>
            <a:off x="6134130" y="3981450"/>
            <a:ext cx="78545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Continuer</a:t>
            </a:r>
            <a:endParaRPr lang="en-US" sz="1050" dirty="0"/>
          </a:p>
        </p:txBody>
      </p:sp>
      <p:sp>
        <p:nvSpPr>
          <p:cNvPr id="50" name="Text 13"/>
          <p:cNvSpPr/>
          <p:nvPr/>
        </p:nvSpPr>
        <p:spPr>
          <a:xfrm>
            <a:off x="842769" y="4876800"/>
            <a:ext cx="114889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Suivi Budget</a:t>
            </a:r>
            <a:endParaRPr lang="en-US" sz="1050" dirty="0"/>
          </a:p>
        </p:txBody>
      </p:sp>
      <p:sp>
        <p:nvSpPr>
          <p:cNvPr id="51" name="Text 14"/>
          <p:cNvSpPr/>
          <p:nvPr/>
        </p:nvSpPr>
        <p:spPr>
          <a:xfrm>
            <a:off x="3239557" y="4876800"/>
            <a:ext cx="103387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Graphiques</a:t>
            </a:r>
            <a:endParaRPr lang="en-US" sz="1050" dirty="0"/>
          </a:p>
        </p:txBody>
      </p:sp>
      <p:sp>
        <p:nvSpPr>
          <p:cNvPr id="52" name="Text 15"/>
          <p:cNvSpPr/>
          <p:nvPr/>
        </p:nvSpPr>
        <p:spPr>
          <a:xfrm>
            <a:off x="5625242" y="4876800"/>
            <a:ext cx="94136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Historique</a:t>
            </a:r>
            <a:endParaRPr lang="en-US" sz="1050" dirty="0"/>
          </a:p>
        </p:txBody>
      </p:sp>
      <p:sp>
        <p:nvSpPr>
          <p:cNvPr id="53" name="Text 16"/>
          <p:cNvSpPr/>
          <p:nvPr/>
        </p:nvSpPr>
        <p:spPr>
          <a:xfrm>
            <a:off x="7630373" y="4876800"/>
            <a:ext cx="160966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Chatbot Financier</a:t>
            </a:r>
            <a:endParaRPr lang="en-US" sz="1050" dirty="0"/>
          </a:p>
        </p:txBody>
      </p:sp>
      <p:sp>
        <p:nvSpPr>
          <p:cNvPr id="54" name="Text 17"/>
          <p:cNvSpPr/>
          <p:nvPr/>
        </p:nvSpPr>
        <p:spPr>
          <a:xfrm>
            <a:off x="10085710" y="4876800"/>
            <a:ext cx="137785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Assistant Vocal</a:t>
            </a:r>
            <a:endParaRPr lang="en-US" sz="1050" dirty="0"/>
          </a:p>
        </p:txBody>
      </p:sp>
      <p:sp>
        <p:nvSpPr>
          <p:cNvPr id="55" name="Text 18"/>
          <p:cNvSpPr/>
          <p:nvPr/>
        </p:nvSpPr>
        <p:spPr>
          <a:xfrm>
            <a:off x="304800" y="6324600"/>
            <a:ext cx="268140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Version Bootcamp IA UniPods</a:t>
            </a:r>
            <a:endParaRPr lang="en-US" sz="1200" dirty="0"/>
          </a:p>
        </p:txBody>
      </p:sp>
      <p:sp>
        <p:nvSpPr>
          <p:cNvPr id="56" name="Text 19"/>
          <p:cNvSpPr/>
          <p:nvPr/>
        </p:nvSpPr>
        <p:spPr>
          <a:xfrm>
            <a:off x="10135195" y="6324600"/>
            <a:ext cx="210240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3 | Notre Solution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8763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1219200"/>
            <a:ext cx="9144000" cy="3505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9150" y="1752600"/>
            <a:ext cx="1524000" cy="1524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98738" y="2228850"/>
            <a:ext cx="504825" cy="571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14848" y="3886200"/>
            <a:ext cx="2272605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54501" y="1543050"/>
            <a:ext cx="457200" cy="457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64038" y="1638300"/>
            <a:ext cx="238125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54501" y="2266950"/>
            <a:ext cx="457200" cy="457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11663" y="2362200"/>
            <a:ext cx="142875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54501" y="2990850"/>
            <a:ext cx="457200" cy="457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64038" y="3086100"/>
            <a:ext cx="238125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54501" y="3829050"/>
            <a:ext cx="457200" cy="457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87851" y="3924300"/>
            <a:ext cx="190500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1000" y="6248400"/>
            <a:ext cx="2234505" cy="228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26141" y="6248400"/>
            <a:ext cx="2684859" cy="2286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Présentation du Fondateur</a:t>
            </a:r>
            <a:endParaRPr lang="en-US" sz="2700" dirty="0"/>
          </a:p>
        </p:txBody>
      </p:sp>
      <p:sp>
        <p:nvSpPr>
          <p:cNvPr id="19" name="Text 1"/>
          <p:cNvSpPr/>
          <p:nvPr/>
        </p:nvSpPr>
        <p:spPr>
          <a:xfrm>
            <a:off x="1926714" y="3505200"/>
            <a:ext cx="2648724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BROU DAVID YAO</a:t>
            </a:r>
            <a:endParaRPr lang="en-US" sz="1800" dirty="0"/>
          </a:p>
        </p:txBody>
      </p:sp>
      <p:sp>
        <p:nvSpPr>
          <p:cNvPr id="20" name="Text 2"/>
          <p:cNvSpPr/>
          <p:nvPr/>
        </p:nvSpPr>
        <p:spPr>
          <a:xfrm>
            <a:off x="2267248" y="3924300"/>
            <a:ext cx="236136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Fondateur &amp; Développeur</a:t>
            </a:r>
            <a:endParaRPr lang="en-US" sz="1200" dirty="0"/>
          </a:p>
        </p:txBody>
      </p:sp>
      <p:sp>
        <p:nvSpPr>
          <p:cNvPr id="21" name="Text 3"/>
          <p:cNvSpPr/>
          <p:nvPr/>
        </p:nvSpPr>
        <p:spPr>
          <a:xfrm>
            <a:off x="5664101" y="1524000"/>
            <a:ext cx="339524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Développeur Full Stack</a:t>
            </a:r>
            <a:endParaRPr lang="en-US" sz="1500" dirty="0"/>
          </a:p>
        </p:txBody>
      </p:sp>
      <p:sp>
        <p:nvSpPr>
          <p:cNvPr id="22" name="Text 4"/>
          <p:cNvSpPr/>
          <p:nvPr/>
        </p:nvSpPr>
        <p:spPr>
          <a:xfrm>
            <a:off x="5664101" y="1790700"/>
            <a:ext cx="339524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Spécialiste des solutions numériques</a:t>
            </a:r>
            <a:endParaRPr lang="en-US" sz="1200" dirty="0"/>
          </a:p>
        </p:txBody>
      </p:sp>
      <p:sp>
        <p:nvSpPr>
          <p:cNvPr id="23" name="Text 5"/>
          <p:cNvSpPr/>
          <p:nvPr/>
        </p:nvSpPr>
        <p:spPr>
          <a:xfrm>
            <a:off x="5664101" y="2247900"/>
            <a:ext cx="170199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Passionné de</a:t>
            </a:r>
            <a:endParaRPr lang="en-US" sz="1500" dirty="0"/>
          </a:p>
        </p:txBody>
      </p:sp>
      <p:sp>
        <p:nvSpPr>
          <p:cNvPr id="24" name="Text 6"/>
          <p:cNvSpPr/>
          <p:nvPr/>
        </p:nvSpPr>
        <p:spPr>
          <a:xfrm>
            <a:off x="5664101" y="2514600"/>
            <a:ext cx="170199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FinTech et d'IA</a:t>
            </a:r>
            <a:endParaRPr lang="en-US" sz="1200" dirty="0"/>
          </a:p>
        </p:txBody>
      </p:sp>
      <p:sp>
        <p:nvSpPr>
          <p:cNvPr id="25" name="Text 7"/>
          <p:cNvSpPr/>
          <p:nvPr/>
        </p:nvSpPr>
        <p:spPr>
          <a:xfrm>
            <a:off x="5664101" y="2971800"/>
            <a:ext cx="145786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Diplômé en</a:t>
            </a:r>
            <a:endParaRPr lang="en-US" sz="1500" dirty="0"/>
          </a:p>
        </p:txBody>
      </p:sp>
      <p:sp>
        <p:nvSpPr>
          <p:cNvPr id="26" name="Text 8"/>
          <p:cNvSpPr/>
          <p:nvPr/>
        </p:nvSpPr>
        <p:spPr>
          <a:xfrm>
            <a:off x="5664101" y="3238500"/>
            <a:ext cx="121488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MIAGE</a:t>
            </a:r>
            <a:endParaRPr lang="en-US" sz="1200" dirty="0"/>
          </a:p>
        </p:txBody>
      </p:sp>
      <p:sp>
        <p:nvSpPr>
          <p:cNvPr id="27" name="Text 9"/>
          <p:cNvSpPr/>
          <p:nvPr/>
        </p:nvSpPr>
        <p:spPr>
          <a:xfrm>
            <a:off x="5664101" y="3695700"/>
            <a:ext cx="4698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Mission</a:t>
            </a:r>
            <a:endParaRPr lang="en-US" sz="1500" dirty="0"/>
          </a:p>
        </p:txBody>
      </p:sp>
      <p:sp>
        <p:nvSpPr>
          <p:cNvPr id="28" name="Text 10"/>
          <p:cNvSpPr/>
          <p:nvPr/>
        </p:nvSpPr>
        <p:spPr>
          <a:xfrm>
            <a:off x="5664101" y="3962400"/>
            <a:ext cx="46989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Concevoir des solutions numériques centrées sur l'humain et utiles pour le continent</a:t>
            </a:r>
            <a:endParaRPr lang="en-US" sz="1200" dirty="0"/>
          </a:p>
        </p:txBody>
      </p:sp>
      <p:sp>
        <p:nvSpPr>
          <p:cNvPr id="29" name="Text 11"/>
          <p:cNvSpPr/>
          <p:nvPr/>
        </p:nvSpPr>
        <p:spPr>
          <a:xfrm>
            <a:off x="381000" y="6248400"/>
            <a:ext cx="268140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Version Bootcamp IA UniPods</a:t>
            </a:r>
            <a:endParaRPr lang="en-US" sz="1200" dirty="0"/>
          </a:p>
        </p:txBody>
      </p:sp>
      <p:sp>
        <p:nvSpPr>
          <p:cNvPr id="30" name="Text 12"/>
          <p:cNvSpPr/>
          <p:nvPr/>
        </p:nvSpPr>
        <p:spPr>
          <a:xfrm>
            <a:off x="9126141" y="6248400"/>
            <a:ext cx="322183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4 | Présentation du Fondateur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8763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5600" y="1143000"/>
            <a:ext cx="6400800" cy="762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2209800"/>
            <a:ext cx="5600700" cy="1181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400300"/>
            <a:ext cx="4572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8663" y="2495550"/>
            <a:ext cx="142875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2209800"/>
            <a:ext cx="5600700" cy="1181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2400300"/>
            <a:ext cx="457200" cy="457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0338" y="2495550"/>
            <a:ext cx="238125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3619500"/>
            <a:ext cx="5600700" cy="11811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3810000"/>
            <a:ext cx="457200" cy="457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4850" y="3905250"/>
            <a:ext cx="190500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3619500"/>
            <a:ext cx="5600700" cy="1181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3810000"/>
            <a:ext cx="457200" cy="457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19863" y="3905250"/>
            <a:ext cx="219075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28800" y="5029200"/>
            <a:ext cx="8534400" cy="838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95946" y="5248275"/>
            <a:ext cx="142875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79198" y="5476875"/>
            <a:ext cx="142875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1000" y="6248400"/>
            <a:ext cx="2234505" cy="2286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65010" y="6248400"/>
            <a:ext cx="2445990" cy="2286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Mon Rôle dans le Projet</a:t>
            </a:r>
            <a:endParaRPr lang="en-US" sz="2700" dirty="0"/>
          </a:p>
        </p:txBody>
      </p:sp>
      <p:sp>
        <p:nvSpPr>
          <p:cNvPr id="23" name="Text 1"/>
          <p:cNvSpPr/>
          <p:nvPr/>
        </p:nvSpPr>
        <p:spPr>
          <a:xfrm>
            <a:off x="3124200" y="1257300"/>
            <a:ext cx="5943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Fondateur, développeur, designer et architecte technique du projet GèrTonArgent</a:t>
            </a:r>
            <a:endParaRPr lang="en-US" sz="1500" dirty="0"/>
          </a:p>
        </p:txBody>
      </p:sp>
      <p:sp>
        <p:nvSpPr>
          <p:cNvPr id="24" name="Text 2"/>
          <p:cNvSpPr/>
          <p:nvPr/>
        </p:nvSpPr>
        <p:spPr>
          <a:xfrm>
            <a:off x="1181100" y="2400300"/>
            <a:ext cx="4610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Fondateur du Projet</a:t>
            </a:r>
            <a:endParaRPr lang="en-US" sz="1500" dirty="0"/>
          </a:p>
        </p:txBody>
      </p:sp>
      <p:sp>
        <p:nvSpPr>
          <p:cNvPr id="25" name="Text 3"/>
          <p:cNvSpPr/>
          <p:nvPr/>
        </p:nvSpPr>
        <p:spPr>
          <a:xfrm>
            <a:off x="1181100" y="2743200"/>
            <a:ext cx="4610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Responsable de l'idée originale et de la vision globale de GèrTonArgent</a:t>
            </a:r>
            <a:endParaRPr lang="en-US" sz="1200" dirty="0"/>
          </a:p>
        </p:txBody>
      </p:sp>
      <p:sp>
        <p:nvSpPr>
          <p:cNvPr id="26" name="Text 4"/>
          <p:cNvSpPr/>
          <p:nvPr/>
        </p:nvSpPr>
        <p:spPr>
          <a:xfrm>
            <a:off x="7010400" y="2400300"/>
            <a:ext cx="5532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Développeur Full Stack</a:t>
            </a:r>
            <a:endParaRPr lang="en-US" sz="1500" dirty="0"/>
          </a:p>
        </p:txBody>
      </p:sp>
      <p:sp>
        <p:nvSpPr>
          <p:cNvPr id="27" name="Text 5"/>
          <p:cNvSpPr/>
          <p:nvPr/>
        </p:nvSpPr>
        <p:spPr>
          <a:xfrm>
            <a:off x="7010400" y="2743200"/>
            <a:ext cx="4610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Spécialisé en Flutter et Node.js, je développe l'application mobile et le backend</a:t>
            </a:r>
            <a:endParaRPr lang="en-US" sz="1200" dirty="0"/>
          </a:p>
        </p:txBody>
      </p:sp>
      <p:sp>
        <p:nvSpPr>
          <p:cNvPr id="28" name="Text 6"/>
          <p:cNvSpPr/>
          <p:nvPr/>
        </p:nvSpPr>
        <p:spPr>
          <a:xfrm>
            <a:off x="1181100" y="3810000"/>
            <a:ext cx="4610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Designer UX/UI</a:t>
            </a:r>
            <a:endParaRPr lang="en-US" sz="1500" dirty="0"/>
          </a:p>
        </p:txBody>
      </p:sp>
      <p:sp>
        <p:nvSpPr>
          <p:cNvPr id="29" name="Text 7"/>
          <p:cNvSpPr/>
          <p:nvPr/>
        </p:nvSpPr>
        <p:spPr>
          <a:xfrm>
            <a:off x="1181100" y="4152900"/>
            <a:ext cx="4610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Conception de l'interface utilisateur et de l'expérience client de la version actuelle</a:t>
            </a:r>
            <a:endParaRPr lang="en-US" sz="1200" dirty="0"/>
          </a:p>
        </p:txBody>
      </p:sp>
      <p:sp>
        <p:nvSpPr>
          <p:cNvPr id="30" name="Text 8"/>
          <p:cNvSpPr/>
          <p:nvPr/>
        </p:nvSpPr>
        <p:spPr>
          <a:xfrm>
            <a:off x="7010400" y="3810000"/>
            <a:ext cx="4610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Architecte Technique</a:t>
            </a:r>
            <a:endParaRPr lang="en-US" sz="1500" dirty="0"/>
          </a:p>
        </p:txBody>
      </p:sp>
      <p:sp>
        <p:nvSpPr>
          <p:cNvPr id="31" name="Text 9"/>
          <p:cNvSpPr/>
          <p:nvPr/>
        </p:nvSpPr>
        <p:spPr>
          <a:xfrm>
            <a:off x="7010400" y="4152900"/>
            <a:ext cx="4610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Spécialisé en intégration IA (Gemini), je structure l'architecture du projet</a:t>
            </a:r>
            <a:endParaRPr lang="en-US" sz="1200" dirty="0"/>
          </a:p>
        </p:txBody>
      </p:sp>
      <p:sp>
        <p:nvSpPr>
          <p:cNvPr id="32" name="Text 10"/>
          <p:cNvSpPr/>
          <p:nvPr/>
        </p:nvSpPr>
        <p:spPr>
          <a:xfrm>
            <a:off x="2019300" y="5219700"/>
            <a:ext cx="8153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Je suis responsable de l'idée, du design, du développement mobile, du backend et de l'intégration de l'IA. Mon objectif est de transformer GèrTonArgent en un produit réellement prêt pour le marché. </a:t>
            </a:r>
            <a:endParaRPr lang="en-US" sz="1200" dirty="0"/>
          </a:p>
        </p:txBody>
      </p:sp>
      <p:sp>
        <p:nvSpPr>
          <p:cNvPr id="33" name="Text 11"/>
          <p:cNvSpPr/>
          <p:nvPr/>
        </p:nvSpPr>
        <p:spPr>
          <a:xfrm>
            <a:off x="381000" y="6248400"/>
            <a:ext cx="268140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Version Bootcamp IA UniPods</a:t>
            </a:r>
            <a:endParaRPr lang="en-US" sz="1200" dirty="0"/>
          </a:p>
        </p:txBody>
      </p:sp>
      <p:sp>
        <p:nvSpPr>
          <p:cNvPr id="34" name="Text 12"/>
          <p:cNvSpPr/>
          <p:nvPr/>
        </p:nvSpPr>
        <p:spPr>
          <a:xfrm>
            <a:off x="9365010" y="6248400"/>
            <a:ext cx="293518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5 | Mon Rôle dans le Projet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8382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028700"/>
            <a:ext cx="3708350" cy="990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1143000"/>
            <a:ext cx="381000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075" y="1200150"/>
            <a:ext cx="171450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41750" y="1028700"/>
            <a:ext cx="3708350" cy="990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56050" y="1143000"/>
            <a:ext cx="3810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51300" y="1200150"/>
            <a:ext cx="19050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02501" y="1028700"/>
            <a:ext cx="3708499" cy="990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16801" y="1143000"/>
            <a:ext cx="381000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12051" y="1200150"/>
            <a:ext cx="19050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000" y="2171700"/>
            <a:ext cx="3708350" cy="723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5300" y="2286000"/>
            <a:ext cx="381000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6263" y="2343150"/>
            <a:ext cx="219075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241750" y="2171700"/>
            <a:ext cx="3708350" cy="723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56050" y="2286000"/>
            <a:ext cx="381000" cy="381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60825" y="2343150"/>
            <a:ext cx="171450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1000" y="2971800"/>
            <a:ext cx="11430000" cy="8763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3400" y="3181350"/>
            <a:ext cx="457200" cy="4572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6750" y="3276600"/>
            <a:ext cx="190500" cy="266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81000" y="6248400"/>
            <a:ext cx="2234505" cy="2286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440614" y="6248400"/>
            <a:ext cx="2370386" cy="2286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-762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Attentes du Bootcamp UniPods</a:t>
            </a:r>
            <a:endParaRPr lang="en-US" sz="2700" dirty="0"/>
          </a:p>
        </p:txBody>
      </p:sp>
      <p:sp>
        <p:nvSpPr>
          <p:cNvPr id="25" name="Text 1"/>
          <p:cNvSpPr/>
          <p:nvPr/>
        </p:nvSpPr>
        <p:spPr>
          <a:xfrm>
            <a:off x="990600" y="1143000"/>
            <a:ext cx="29844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Amélioration de l'architecture IA</a:t>
            </a:r>
            <a:endParaRPr lang="en-US" sz="1350" dirty="0"/>
          </a:p>
        </p:txBody>
      </p:sp>
      <p:sp>
        <p:nvSpPr>
          <p:cNvPr id="26" name="Text 2"/>
          <p:cNvSpPr/>
          <p:nvPr/>
        </p:nvSpPr>
        <p:spPr>
          <a:xfrm>
            <a:off x="990600" y="1714500"/>
            <a:ext cx="35813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Modèles léghts, optimisation locale</a:t>
            </a:r>
            <a:endParaRPr lang="en-US" sz="1050" dirty="0"/>
          </a:p>
        </p:txBody>
      </p:sp>
      <p:sp>
        <p:nvSpPr>
          <p:cNvPr id="27" name="Text 3"/>
          <p:cNvSpPr/>
          <p:nvPr/>
        </p:nvSpPr>
        <p:spPr>
          <a:xfrm>
            <a:off x="4851350" y="1143000"/>
            <a:ext cx="320629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Structure produit scalable</a:t>
            </a:r>
            <a:endParaRPr lang="en-US" sz="1350" dirty="0"/>
          </a:p>
        </p:txBody>
      </p:sp>
      <p:sp>
        <p:nvSpPr>
          <p:cNvPr id="28" name="Text 4"/>
          <p:cNvSpPr/>
          <p:nvPr/>
        </p:nvSpPr>
        <p:spPr>
          <a:xfrm>
            <a:off x="4851350" y="1447800"/>
            <a:ext cx="320629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Encadrement pour structurer un produit</a:t>
            </a:r>
            <a:endParaRPr lang="en-US" sz="1050" dirty="0"/>
          </a:p>
        </p:txBody>
      </p:sp>
      <p:sp>
        <p:nvSpPr>
          <p:cNvPr id="29" name="Text 5"/>
          <p:cNvSpPr/>
          <p:nvPr/>
        </p:nvSpPr>
        <p:spPr>
          <a:xfrm>
            <a:off x="8712101" y="1143000"/>
            <a:ext cx="296251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Retour business</a:t>
            </a:r>
            <a:endParaRPr lang="en-US" sz="1350" dirty="0"/>
          </a:p>
        </p:txBody>
      </p:sp>
      <p:sp>
        <p:nvSpPr>
          <p:cNvPr id="30" name="Text 6"/>
          <p:cNvSpPr/>
          <p:nvPr/>
        </p:nvSpPr>
        <p:spPr>
          <a:xfrm>
            <a:off x="8712101" y="1447800"/>
            <a:ext cx="296251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Pertinence du pivot et retour marché</a:t>
            </a:r>
            <a:endParaRPr lang="en-US" sz="1050" dirty="0"/>
          </a:p>
        </p:txBody>
      </p:sp>
      <p:sp>
        <p:nvSpPr>
          <p:cNvPr id="31" name="Text 7"/>
          <p:cNvSpPr/>
          <p:nvPr/>
        </p:nvSpPr>
        <p:spPr>
          <a:xfrm>
            <a:off x="990600" y="2286000"/>
            <a:ext cx="22733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Networking</a:t>
            </a:r>
            <a:endParaRPr lang="en-US" sz="1350" dirty="0"/>
          </a:p>
        </p:txBody>
      </p:sp>
      <p:sp>
        <p:nvSpPr>
          <p:cNvPr id="32" name="Text 8"/>
          <p:cNvSpPr/>
          <p:nvPr/>
        </p:nvSpPr>
        <p:spPr>
          <a:xfrm>
            <a:off x="990600" y="2590800"/>
            <a:ext cx="27280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Experts de Google et Smart Africa</a:t>
            </a:r>
            <a:endParaRPr lang="en-US" sz="1050" dirty="0"/>
          </a:p>
        </p:txBody>
      </p:sp>
      <p:sp>
        <p:nvSpPr>
          <p:cNvPr id="33" name="Text 9"/>
          <p:cNvSpPr/>
          <p:nvPr/>
        </p:nvSpPr>
        <p:spPr>
          <a:xfrm>
            <a:off x="4851350" y="2286000"/>
            <a:ext cx="278391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Modèle économique</a:t>
            </a:r>
            <a:endParaRPr lang="en-US" sz="1350" dirty="0"/>
          </a:p>
        </p:txBody>
      </p:sp>
      <p:sp>
        <p:nvSpPr>
          <p:cNvPr id="34" name="Text 10"/>
          <p:cNvSpPr/>
          <p:nvPr/>
        </p:nvSpPr>
        <p:spPr>
          <a:xfrm>
            <a:off x="4851350" y="2590800"/>
            <a:ext cx="278391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Aide à formaliser un modèle solide</a:t>
            </a:r>
            <a:endParaRPr lang="en-US" sz="1050" dirty="0"/>
          </a:p>
        </p:txBody>
      </p:sp>
      <p:sp>
        <p:nvSpPr>
          <p:cNvPr id="35" name="Text 11"/>
          <p:cNvSpPr/>
          <p:nvPr/>
        </p:nvSpPr>
        <p:spPr>
          <a:xfrm>
            <a:off x="1143000" y="3124200"/>
            <a:ext cx="52235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Objectif final</a:t>
            </a:r>
            <a:endParaRPr lang="en-US" sz="1500" dirty="0"/>
          </a:p>
        </p:txBody>
      </p:sp>
      <p:sp>
        <p:nvSpPr>
          <p:cNvPr id="36" name="Text 12"/>
          <p:cNvSpPr/>
          <p:nvPr/>
        </p:nvSpPr>
        <p:spPr>
          <a:xfrm>
            <a:off x="1143000" y="3429000"/>
            <a:ext cx="626828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Transformer GèrTonArgent en un produit prêt pour le marché</a:t>
            </a:r>
            <a:endParaRPr lang="en-US" sz="1350" dirty="0"/>
          </a:p>
        </p:txBody>
      </p:sp>
      <p:sp>
        <p:nvSpPr>
          <p:cNvPr id="37" name="Text 13"/>
          <p:cNvSpPr/>
          <p:nvPr/>
        </p:nvSpPr>
        <p:spPr>
          <a:xfrm>
            <a:off x="381000" y="6248400"/>
            <a:ext cx="268140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Version Bootcamp IA UniPods</a:t>
            </a:r>
            <a:endParaRPr lang="en-US" sz="1200" dirty="0"/>
          </a:p>
        </p:txBody>
      </p:sp>
      <p:sp>
        <p:nvSpPr>
          <p:cNvPr id="38" name="Text 14"/>
          <p:cNvSpPr/>
          <p:nvPr/>
        </p:nvSpPr>
        <p:spPr>
          <a:xfrm>
            <a:off x="9440614" y="6248400"/>
            <a:ext cx="284446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6 | Attentes du Bootcamp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8763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5600" y="1219200"/>
            <a:ext cx="6400800" cy="762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2209800"/>
            <a:ext cx="3682901" cy="1866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17650" y="2400300"/>
            <a:ext cx="609600" cy="609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2438" y="2552700"/>
            <a:ext cx="200025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54401" y="2209800"/>
            <a:ext cx="3683050" cy="1866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91051" y="2400300"/>
            <a:ext cx="609600" cy="609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52976" y="2552700"/>
            <a:ext cx="28575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27950" y="2209800"/>
            <a:ext cx="3682901" cy="1866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64601" y="2400300"/>
            <a:ext cx="609600" cy="609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55101" y="2552700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000" y="4267200"/>
            <a:ext cx="3682901" cy="1866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17650" y="4457700"/>
            <a:ext cx="609600" cy="609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079575" y="4610100"/>
            <a:ext cx="28575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254401" y="4267200"/>
            <a:ext cx="3683050" cy="1866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91051" y="4457700"/>
            <a:ext cx="609600" cy="6096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995839" y="4610100"/>
            <a:ext cx="200025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27950" y="4267200"/>
            <a:ext cx="3682901" cy="1866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664601" y="4457700"/>
            <a:ext cx="609600" cy="6096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826526" y="4610100"/>
            <a:ext cx="285750" cy="304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81000" y="6248400"/>
            <a:ext cx="2234505" cy="2286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260979" y="6248400"/>
            <a:ext cx="2550021" cy="2286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Défis Techniques Actuels</a:t>
            </a:r>
            <a:endParaRPr lang="en-US" sz="2700" dirty="0"/>
          </a:p>
        </p:txBody>
      </p:sp>
      <p:sp>
        <p:nvSpPr>
          <p:cNvPr id="26" name="Text 1"/>
          <p:cNvSpPr/>
          <p:nvPr/>
        </p:nvSpPr>
        <p:spPr>
          <a:xfrm>
            <a:off x="3124200" y="1333500"/>
            <a:ext cx="5943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Accès limité aux API Mobile Money et contraintes réglementaires pour optimiser l'IA embarquée</a:t>
            </a:r>
            <a:endParaRPr lang="en-US" sz="1500" dirty="0"/>
          </a:p>
        </p:txBody>
      </p:sp>
      <p:sp>
        <p:nvSpPr>
          <p:cNvPr id="27" name="Text 2"/>
          <p:cNvSpPr/>
          <p:nvPr/>
        </p:nvSpPr>
        <p:spPr>
          <a:xfrm>
            <a:off x="1187336" y="3162300"/>
            <a:ext cx="20700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API Mobile Money</a:t>
            </a:r>
            <a:endParaRPr lang="en-US" sz="1350" dirty="0"/>
          </a:p>
        </p:txBody>
      </p:sp>
      <p:sp>
        <p:nvSpPr>
          <p:cNvPr id="28" name="Text 3"/>
          <p:cNvSpPr/>
          <p:nvPr/>
        </p:nvSpPr>
        <p:spPr>
          <a:xfrm>
            <a:off x="571500" y="3505200"/>
            <a:ext cx="330190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Impossible d'accéder aux API officielles des opérateurs mobile</a:t>
            </a:r>
            <a:endParaRPr lang="en-US" sz="1050" dirty="0"/>
          </a:p>
        </p:txBody>
      </p:sp>
      <p:sp>
        <p:nvSpPr>
          <p:cNvPr id="29" name="Text 4"/>
          <p:cNvSpPr/>
          <p:nvPr/>
        </p:nvSpPr>
        <p:spPr>
          <a:xfrm>
            <a:off x="4469219" y="3162300"/>
            <a:ext cx="325326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Contraintes Réglementaires</a:t>
            </a:r>
            <a:endParaRPr lang="en-US" sz="1350" dirty="0"/>
          </a:p>
        </p:txBody>
      </p:sp>
      <p:sp>
        <p:nvSpPr>
          <p:cNvPr id="30" name="Text 5"/>
          <p:cNvSpPr/>
          <p:nvPr/>
        </p:nvSpPr>
        <p:spPr>
          <a:xfrm>
            <a:off x="4444901" y="3505200"/>
            <a:ext cx="33020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Agrément BCEAO et régulations financières restrictives</a:t>
            </a:r>
            <a:endParaRPr lang="en-US" sz="1050" dirty="0"/>
          </a:p>
        </p:txBody>
      </p:sp>
      <p:sp>
        <p:nvSpPr>
          <p:cNvPr id="31" name="Text 6"/>
          <p:cNvSpPr/>
          <p:nvPr/>
        </p:nvSpPr>
        <p:spPr>
          <a:xfrm>
            <a:off x="9037141" y="3162300"/>
            <a:ext cx="186451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Précision de l'IA</a:t>
            </a:r>
            <a:endParaRPr lang="en-US" sz="1350" dirty="0"/>
          </a:p>
        </p:txBody>
      </p:sp>
      <p:sp>
        <p:nvSpPr>
          <p:cNvPr id="32" name="Text 7"/>
          <p:cNvSpPr/>
          <p:nvPr/>
        </p:nvSpPr>
        <p:spPr>
          <a:xfrm>
            <a:off x="8318450" y="3505200"/>
            <a:ext cx="330190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Garantir précision et sécurité des recommandations</a:t>
            </a:r>
            <a:endParaRPr lang="en-US" sz="1050" dirty="0"/>
          </a:p>
        </p:txBody>
      </p:sp>
      <p:sp>
        <p:nvSpPr>
          <p:cNvPr id="33" name="Text 8"/>
          <p:cNvSpPr/>
          <p:nvPr/>
        </p:nvSpPr>
        <p:spPr>
          <a:xfrm>
            <a:off x="1041961" y="5219700"/>
            <a:ext cx="236083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Optimisation Flutter</a:t>
            </a:r>
            <a:endParaRPr lang="en-US" sz="1350" dirty="0"/>
          </a:p>
        </p:txBody>
      </p:sp>
      <p:sp>
        <p:nvSpPr>
          <p:cNvPr id="34" name="Text 9"/>
          <p:cNvSpPr/>
          <p:nvPr/>
        </p:nvSpPr>
        <p:spPr>
          <a:xfrm>
            <a:off x="571500" y="5562600"/>
            <a:ext cx="330190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Fonctionnement en arrière-plan sur plusieurs applications</a:t>
            </a:r>
            <a:endParaRPr lang="en-US" sz="1050" dirty="0"/>
          </a:p>
        </p:txBody>
      </p:sp>
      <p:sp>
        <p:nvSpPr>
          <p:cNvPr id="35" name="Text 10"/>
          <p:cNvSpPr/>
          <p:nvPr/>
        </p:nvSpPr>
        <p:spPr>
          <a:xfrm>
            <a:off x="5136446" y="5219700"/>
            <a:ext cx="191881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Données Réelles</a:t>
            </a:r>
            <a:endParaRPr lang="en-US" sz="1350" dirty="0"/>
          </a:p>
        </p:txBody>
      </p:sp>
      <p:sp>
        <p:nvSpPr>
          <p:cNvPr id="36" name="Text 11"/>
          <p:cNvSpPr/>
          <p:nvPr/>
        </p:nvSpPr>
        <p:spPr>
          <a:xfrm>
            <a:off x="4444901" y="5562600"/>
            <a:ext cx="33020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Manque de données pour entraîner l'IA prédictive</a:t>
            </a:r>
            <a:endParaRPr lang="en-US" sz="1050" dirty="0"/>
          </a:p>
        </p:txBody>
      </p:sp>
      <p:sp>
        <p:nvSpPr>
          <p:cNvPr id="37" name="Text 12"/>
          <p:cNvSpPr/>
          <p:nvPr/>
        </p:nvSpPr>
        <p:spPr>
          <a:xfrm>
            <a:off x="8848725" y="5219700"/>
            <a:ext cx="224135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Structure du Projet</a:t>
            </a:r>
            <a:endParaRPr lang="en-US" sz="1350" dirty="0"/>
          </a:p>
        </p:txBody>
      </p:sp>
      <p:sp>
        <p:nvSpPr>
          <p:cNvPr id="38" name="Text 13"/>
          <p:cNvSpPr/>
          <p:nvPr/>
        </p:nvSpPr>
        <p:spPr>
          <a:xfrm>
            <a:off x="8441531" y="5562600"/>
            <a:ext cx="305573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Renforcer l'architecture IA/ML actuelle</a:t>
            </a:r>
            <a:endParaRPr lang="en-US" sz="1050" dirty="0"/>
          </a:p>
        </p:txBody>
      </p:sp>
      <p:sp>
        <p:nvSpPr>
          <p:cNvPr id="39" name="Text 14"/>
          <p:cNvSpPr/>
          <p:nvPr/>
        </p:nvSpPr>
        <p:spPr>
          <a:xfrm>
            <a:off x="381000" y="6248400"/>
            <a:ext cx="268140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Version Bootcamp IA UniPods</a:t>
            </a:r>
            <a:endParaRPr lang="en-US" sz="1200" dirty="0"/>
          </a:p>
        </p:txBody>
      </p:sp>
      <p:sp>
        <p:nvSpPr>
          <p:cNvPr id="40" name="Text 15"/>
          <p:cNvSpPr/>
          <p:nvPr/>
        </p:nvSpPr>
        <p:spPr>
          <a:xfrm>
            <a:off x="9260979" y="6248400"/>
            <a:ext cx="306002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7 | Défis Techniques Actuels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8763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219200"/>
            <a:ext cx="11430000" cy="685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2209800"/>
            <a:ext cx="5600700" cy="1181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400300"/>
            <a:ext cx="4572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2209800"/>
            <a:ext cx="5600700" cy="1181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2400300"/>
            <a:ext cx="457200" cy="457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4150" y="2495550"/>
            <a:ext cx="19050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3619500"/>
            <a:ext cx="5600700" cy="11811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3810000"/>
            <a:ext cx="457200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1038" y="3905250"/>
            <a:ext cx="238125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3619500"/>
            <a:ext cx="5600700" cy="11811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3810000"/>
            <a:ext cx="457200" cy="457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10338" y="3905250"/>
            <a:ext cx="238125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000" y="5105400"/>
            <a:ext cx="11430000" cy="571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000" y="6248400"/>
            <a:ext cx="2234505" cy="228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02850" y="6248400"/>
            <a:ext cx="2108150" cy="2286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Potentiel et Impact</a:t>
            </a:r>
            <a:endParaRPr lang="en-US" sz="2700" dirty="0"/>
          </a:p>
        </p:txBody>
      </p:sp>
      <p:sp>
        <p:nvSpPr>
          <p:cNvPr id="20" name="Text 1"/>
          <p:cNvSpPr/>
          <p:nvPr/>
        </p:nvSpPr>
        <p:spPr>
          <a:xfrm>
            <a:off x="-533400" y="1409700"/>
            <a:ext cx="13258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Première IA personnelle anti-dépenses inutiles en Afrique</a:t>
            </a:r>
            <a:endParaRPr lang="en-US" sz="1800" dirty="0"/>
          </a:p>
        </p:txBody>
      </p:sp>
      <p:sp>
        <p:nvSpPr>
          <p:cNvPr id="21" name="Text 2"/>
          <p:cNvSpPr/>
          <p:nvPr/>
        </p:nvSpPr>
        <p:spPr>
          <a:xfrm>
            <a:off x="1181100" y="2400300"/>
            <a:ext cx="5532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Fonctionnement sans connexion</a:t>
            </a:r>
            <a:endParaRPr lang="en-US" sz="1500" dirty="0"/>
          </a:p>
        </p:txBody>
      </p:sp>
      <p:sp>
        <p:nvSpPr>
          <p:cNvPr id="22" name="Text 3"/>
          <p:cNvSpPr/>
          <p:nvPr/>
        </p:nvSpPr>
        <p:spPr>
          <a:xfrm>
            <a:off x="1181100" y="2743200"/>
            <a:ext cx="4610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Très performante sans internet, sans API, sans banque → accessible partout en Afrique</a:t>
            </a:r>
            <a:endParaRPr lang="en-US" sz="1200" dirty="0"/>
          </a:p>
        </p:txBody>
      </p:sp>
      <p:sp>
        <p:nvSpPr>
          <p:cNvPr id="23" name="Text 4"/>
          <p:cNvSpPr/>
          <p:nvPr/>
        </p:nvSpPr>
        <p:spPr>
          <a:xfrm>
            <a:off x="7010400" y="2400300"/>
            <a:ext cx="5532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Réduction de l'endettement</a:t>
            </a:r>
            <a:endParaRPr lang="en-US" sz="1500" dirty="0"/>
          </a:p>
        </p:txBody>
      </p:sp>
      <p:sp>
        <p:nvSpPr>
          <p:cNvPr id="24" name="Text 5"/>
          <p:cNvSpPr/>
          <p:nvPr/>
        </p:nvSpPr>
        <p:spPr>
          <a:xfrm>
            <a:off x="7010400" y="2743200"/>
            <a:ext cx="4610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Réduit l'endettement informel et favorise l'épargne parmi les Africains</a:t>
            </a:r>
            <a:endParaRPr lang="en-US" sz="1200" dirty="0"/>
          </a:p>
        </p:txBody>
      </p:sp>
      <p:sp>
        <p:nvSpPr>
          <p:cNvPr id="25" name="Text 6"/>
          <p:cNvSpPr/>
          <p:nvPr/>
        </p:nvSpPr>
        <p:spPr>
          <a:xfrm>
            <a:off x="1181100" y="3810000"/>
            <a:ext cx="5532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Assistant vocal préventif</a:t>
            </a:r>
            <a:endParaRPr lang="en-US" sz="1500" dirty="0"/>
          </a:p>
        </p:txBody>
      </p:sp>
      <p:sp>
        <p:nvSpPr>
          <p:cNvPr id="26" name="Text 7"/>
          <p:cNvSpPr/>
          <p:nvPr/>
        </p:nvSpPr>
        <p:spPr>
          <a:xfrm>
            <a:off x="1181100" y="4152900"/>
            <a:ext cx="4610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Devient le Siri des finances personnelles africaines, avant chaque dépense</a:t>
            </a:r>
            <a:endParaRPr lang="en-US" sz="1200" dirty="0"/>
          </a:p>
        </p:txBody>
      </p:sp>
      <p:sp>
        <p:nvSpPr>
          <p:cNvPr id="27" name="Text 8"/>
          <p:cNvSpPr/>
          <p:nvPr/>
        </p:nvSpPr>
        <p:spPr>
          <a:xfrm>
            <a:off x="7010400" y="3810000"/>
            <a:ext cx="4610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Échelle continentale</a:t>
            </a:r>
            <a:endParaRPr lang="en-US" sz="1500" dirty="0"/>
          </a:p>
        </p:txBody>
      </p:sp>
      <p:sp>
        <p:nvSpPr>
          <p:cNvPr id="28" name="Text 9"/>
          <p:cNvSpPr/>
          <p:nvPr/>
        </p:nvSpPr>
        <p:spPr>
          <a:xfrm>
            <a:off x="7010400" y="4152900"/>
            <a:ext cx="4610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Potentiel d'impact sur 50 millions d'africains pour une stabilité financière durable</a:t>
            </a:r>
            <a:endParaRPr lang="en-US" sz="1200" dirty="0"/>
          </a:p>
        </p:txBody>
      </p:sp>
      <p:sp>
        <p:nvSpPr>
          <p:cNvPr id="29" name="Text 10"/>
          <p:cNvSpPr/>
          <p:nvPr/>
        </p:nvSpPr>
        <p:spPr>
          <a:xfrm>
            <a:off x="-579120" y="5257800"/>
            <a:ext cx="133502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"Transformons la gestion financière en une expérience intuitive et préventive pour tous les Africains"</a:t>
            </a:r>
            <a:endParaRPr lang="en-US" sz="1350" dirty="0"/>
          </a:p>
        </p:txBody>
      </p:sp>
      <p:sp>
        <p:nvSpPr>
          <p:cNvPr id="30" name="Text 11"/>
          <p:cNvSpPr/>
          <p:nvPr/>
        </p:nvSpPr>
        <p:spPr>
          <a:xfrm>
            <a:off x="381000" y="6248400"/>
            <a:ext cx="268140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Version Bootcamp IA UniPods</a:t>
            </a:r>
            <a:endParaRPr lang="en-US" sz="1200" dirty="0"/>
          </a:p>
        </p:txBody>
      </p:sp>
      <p:sp>
        <p:nvSpPr>
          <p:cNvPr id="31" name="Text 12"/>
          <p:cNvSpPr/>
          <p:nvPr/>
        </p:nvSpPr>
        <p:spPr>
          <a:xfrm>
            <a:off x="9702850" y="6248400"/>
            <a:ext cx="25297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8 | Potentiel et Impact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8382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990600"/>
            <a:ext cx="9144000" cy="457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638300"/>
            <a:ext cx="3708350" cy="1485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8401" y="1790700"/>
            <a:ext cx="533400" cy="533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92226" y="1905000"/>
            <a:ext cx="28575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41750" y="1638300"/>
            <a:ext cx="3708350" cy="1485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29151" y="1790700"/>
            <a:ext cx="533400" cy="533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81551" y="1905000"/>
            <a:ext cx="2286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02501" y="1638300"/>
            <a:ext cx="3708499" cy="1485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90050" y="1790700"/>
            <a:ext cx="533400" cy="533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13875" y="1905000"/>
            <a:ext cx="28575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000" y="3276600"/>
            <a:ext cx="3708350" cy="1714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8401" y="3429000"/>
            <a:ext cx="533400" cy="533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20801" y="3543300"/>
            <a:ext cx="22860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241750" y="3276600"/>
            <a:ext cx="3708350" cy="1714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29151" y="3429000"/>
            <a:ext cx="533400" cy="533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81551" y="3543300"/>
            <a:ext cx="22860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02501" y="3276600"/>
            <a:ext cx="3708499" cy="1714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90050" y="3429000"/>
            <a:ext cx="533400" cy="533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856738" y="3543300"/>
            <a:ext cx="200025" cy="304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1000" y="6248400"/>
            <a:ext cx="2234505" cy="2286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218712" y="6248400"/>
            <a:ext cx="2592288" cy="2286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Objectifs Bootcamp 2025</a:t>
            </a:r>
            <a:endParaRPr lang="en-US" sz="2700" dirty="0"/>
          </a:p>
        </p:txBody>
      </p:sp>
      <p:sp>
        <p:nvSpPr>
          <p:cNvPr id="26" name="Text 1"/>
          <p:cNvSpPr/>
          <p:nvPr/>
        </p:nvSpPr>
        <p:spPr>
          <a:xfrm>
            <a:off x="1367477" y="2438400"/>
            <a:ext cx="173539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IA Préventive</a:t>
            </a:r>
            <a:endParaRPr lang="en-US" sz="1500" dirty="0"/>
          </a:p>
        </p:txBody>
      </p:sp>
      <p:sp>
        <p:nvSpPr>
          <p:cNvPr id="27" name="Text 2"/>
          <p:cNvSpPr/>
          <p:nvPr/>
        </p:nvSpPr>
        <p:spPr>
          <a:xfrm>
            <a:off x="378083" y="2743200"/>
            <a:ext cx="371403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100% fonctionnelle avec modèles légers</a:t>
            </a:r>
            <a:endParaRPr lang="en-US" sz="1200" dirty="0"/>
          </a:p>
        </p:txBody>
      </p:sp>
      <p:sp>
        <p:nvSpPr>
          <p:cNvPr id="28" name="Text 3"/>
          <p:cNvSpPr/>
          <p:nvPr/>
        </p:nvSpPr>
        <p:spPr>
          <a:xfrm>
            <a:off x="4834265" y="2438400"/>
            <a:ext cx="252317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Stabilité &amp; Sécurité</a:t>
            </a:r>
            <a:endParaRPr lang="en-US" sz="1500" dirty="0"/>
          </a:p>
        </p:txBody>
      </p:sp>
      <p:sp>
        <p:nvSpPr>
          <p:cNvPr id="29" name="Text 4"/>
          <p:cNvSpPr/>
          <p:nvPr/>
        </p:nvSpPr>
        <p:spPr>
          <a:xfrm>
            <a:off x="4865861" y="2743200"/>
            <a:ext cx="246012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Version stable et sécurisée</a:t>
            </a:r>
            <a:endParaRPr lang="en-US" sz="1200" dirty="0"/>
          </a:p>
        </p:txBody>
      </p:sp>
      <p:sp>
        <p:nvSpPr>
          <p:cNvPr id="30" name="Text 5"/>
          <p:cNvSpPr/>
          <p:nvPr/>
        </p:nvSpPr>
        <p:spPr>
          <a:xfrm>
            <a:off x="9102894" y="2438400"/>
            <a:ext cx="170771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Pilotage Réel</a:t>
            </a:r>
            <a:endParaRPr lang="en-US" sz="1500" dirty="0"/>
          </a:p>
        </p:txBody>
      </p:sp>
      <p:sp>
        <p:nvSpPr>
          <p:cNvPr id="31" name="Text 6"/>
          <p:cNvSpPr/>
          <p:nvPr/>
        </p:nvSpPr>
        <p:spPr>
          <a:xfrm>
            <a:off x="7992934" y="2743200"/>
            <a:ext cx="392763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Prêt pour un pilote auprès de 50-100 users</a:t>
            </a:r>
            <a:endParaRPr lang="en-US" sz="1200" dirty="0"/>
          </a:p>
        </p:txBody>
      </p:sp>
      <p:sp>
        <p:nvSpPr>
          <p:cNvPr id="32" name="Text 7"/>
          <p:cNvSpPr/>
          <p:nvPr/>
        </p:nvSpPr>
        <p:spPr>
          <a:xfrm>
            <a:off x="1233889" y="4076700"/>
            <a:ext cx="200257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Business Model</a:t>
            </a:r>
            <a:endParaRPr lang="en-US" sz="1500" dirty="0"/>
          </a:p>
        </p:txBody>
      </p:sp>
      <p:sp>
        <p:nvSpPr>
          <p:cNvPr id="33" name="Text 8"/>
          <p:cNvSpPr/>
          <p:nvPr/>
        </p:nvSpPr>
        <p:spPr>
          <a:xfrm>
            <a:off x="533400" y="4381500"/>
            <a:ext cx="34035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Modèle économique clair pour le marché africain</a:t>
            </a:r>
            <a:endParaRPr lang="en-US" sz="1200" dirty="0"/>
          </a:p>
        </p:txBody>
      </p:sp>
      <p:sp>
        <p:nvSpPr>
          <p:cNvPr id="34" name="Text 9"/>
          <p:cNvSpPr/>
          <p:nvPr/>
        </p:nvSpPr>
        <p:spPr>
          <a:xfrm>
            <a:off x="4577626" y="4076700"/>
            <a:ext cx="303645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Prototype Démontrable</a:t>
            </a:r>
            <a:endParaRPr lang="en-US" sz="1500" dirty="0"/>
          </a:p>
        </p:txBody>
      </p:sp>
      <p:sp>
        <p:nvSpPr>
          <p:cNvPr id="35" name="Text 10"/>
          <p:cNvSpPr/>
          <p:nvPr/>
        </p:nvSpPr>
        <p:spPr>
          <a:xfrm>
            <a:off x="4667801" y="4381500"/>
            <a:ext cx="28562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Prototype prêt à être démontré</a:t>
            </a:r>
            <a:endParaRPr lang="en-US" sz="1200" dirty="0"/>
          </a:p>
        </p:txBody>
      </p:sp>
      <p:sp>
        <p:nvSpPr>
          <p:cNvPr id="36" name="Text 11"/>
          <p:cNvSpPr/>
          <p:nvPr/>
        </p:nvSpPr>
        <p:spPr>
          <a:xfrm>
            <a:off x="9153793" y="4076700"/>
            <a:ext cx="160591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37" name="Text 12"/>
          <p:cNvSpPr/>
          <p:nvPr/>
        </p:nvSpPr>
        <p:spPr>
          <a:xfrm>
            <a:off x="8254901" y="4381500"/>
            <a:ext cx="340369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Structure renforcée pour scalabilité optimale</a:t>
            </a:r>
            <a:endParaRPr lang="en-US" sz="1200" dirty="0"/>
          </a:p>
        </p:txBody>
      </p:sp>
      <p:sp>
        <p:nvSpPr>
          <p:cNvPr id="38" name="Text 13"/>
          <p:cNvSpPr/>
          <p:nvPr/>
        </p:nvSpPr>
        <p:spPr>
          <a:xfrm>
            <a:off x="381000" y="6248400"/>
            <a:ext cx="268140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Version Bootcamp IA UniPods</a:t>
            </a:r>
            <a:endParaRPr lang="en-US" sz="1200" dirty="0"/>
          </a:p>
        </p:txBody>
      </p:sp>
      <p:sp>
        <p:nvSpPr>
          <p:cNvPr id="39" name="Text 14"/>
          <p:cNvSpPr/>
          <p:nvPr/>
        </p:nvSpPr>
        <p:spPr>
          <a:xfrm>
            <a:off x="9218712" y="6248400"/>
            <a:ext cx="311074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9 | Objectifs Bootcamp 2025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8763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8400" y="1143000"/>
            <a:ext cx="7315200" cy="2209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1200" y="1371600"/>
            <a:ext cx="609600" cy="609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1700" y="152400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1000" y="3657600"/>
            <a:ext cx="3810000" cy="609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4495800"/>
            <a:ext cx="2743200" cy="1447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4000" y="4648200"/>
            <a:ext cx="457200" cy="457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57350" y="4743450"/>
            <a:ext cx="19050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6600" y="4495800"/>
            <a:ext cx="2743200" cy="1447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19600" y="4648200"/>
            <a:ext cx="457200" cy="457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52950" y="4743450"/>
            <a:ext cx="190500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72200" y="4495800"/>
            <a:ext cx="2743200" cy="1447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15200" y="4648200"/>
            <a:ext cx="457200" cy="457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48550" y="4743450"/>
            <a:ext cx="190500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67800" y="4495800"/>
            <a:ext cx="2743200" cy="1447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210800" y="4648200"/>
            <a:ext cx="457200" cy="457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44150" y="4743450"/>
            <a:ext cx="190500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1000" y="6210300"/>
            <a:ext cx="2234505" cy="2286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703147" y="6172200"/>
            <a:ext cx="2107853" cy="3048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Vision 2035</a:t>
            </a:r>
            <a:endParaRPr lang="en-US" sz="2700" dirty="0"/>
          </a:p>
        </p:txBody>
      </p:sp>
      <p:sp>
        <p:nvSpPr>
          <p:cNvPr id="23" name="Text 1"/>
          <p:cNvSpPr/>
          <p:nvPr/>
        </p:nvSpPr>
        <p:spPr>
          <a:xfrm>
            <a:off x="2667000" y="2133600"/>
            <a:ext cx="685800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Devenir le premier assistant financier intelligent d'Afrique</a:t>
            </a:r>
            <a:endParaRPr lang="en-US" sz="1800" dirty="0"/>
          </a:p>
        </p:txBody>
      </p:sp>
      <p:sp>
        <p:nvSpPr>
          <p:cNvPr id="24" name="Text 2"/>
          <p:cNvSpPr/>
          <p:nvPr/>
        </p:nvSpPr>
        <p:spPr>
          <a:xfrm>
            <a:off x="1981200" y="2857500"/>
            <a:ext cx="8229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intégrée aux smartphones comme un réflexe quotidien</a:t>
            </a:r>
            <a:endParaRPr lang="en-US" sz="1500" dirty="0"/>
          </a:p>
        </p:txBody>
      </p:sp>
      <p:sp>
        <p:nvSpPr>
          <p:cNvPr id="25" name="Text 3"/>
          <p:cNvSpPr/>
          <p:nvPr/>
        </p:nvSpPr>
        <p:spPr>
          <a:xfrm>
            <a:off x="694268" y="5219700"/>
            <a:ext cx="211651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Gestion financière</a:t>
            </a:r>
            <a:endParaRPr lang="en-US" sz="1350" dirty="0"/>
          </a:p>
        </p:txBody>
      </p:sp>
      <p:sp>
        <p:nvSpPr>
          <p:cNvPr id="26" name="Text 4"/>
          <p:cNvSpPr/>
          <p:nvPr/>
        </p:nvSpPr>
        <p:spPr>
          <a:xfrm>
            <a:off x="661407" y="5562600"/>
            <a:ext cx="218223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mieux gérer leur argent</a:t>
            </a:r>
            <a:endParaRPr lang="en-US" sz="1200" dirty="0"/>
          </a:p>
        </p:txBody>
      </p:sp>
      <p:sp>
        <p:nvSpPr>
          <p:cNvPr id="27" name="Text 5"/>
          <p:cNvSpPr/>
          <p:nvPr/>
        </p:nvSpPr>
        <p:spPr>
          <a:xfrm>
            <a:off x="3228737" y="5219700"/>
            <a:ext cx="283892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Évitement des dépenses</a:t>
            </a:r>
            <a:endParaRPr lang="en-US" sz="1350" dirty="0"/>
          </a:p>
        </p:txBody>
      </p:sp>
      <p:sp>
        <p:nvSpPr>
          <p:cNvPr id="28" name="Text 6"/>
          <p:cNvSpPr/>
          <p:nvPr/>
        </p:nvSpPr>
        <p:spPr>
          <a:xfrm>
            <a:off x="3241075" y="5562600"/>
            <a:ext cx="281410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éviter les dépenses impulsives</a:t>
            </a:r>
            <a:endParaRPr lang="en-US" sz="1200" dirty="0"/>
          </a:p>
        </p:txBody>
      </p:sp>
      <p:sp>
        <p:nvSpPr>
          <p:cNvPr id="29" name="Text 7"/>
          <p:cNvSpPr/>
          <p:nvPr/>
        </p:nvSpPr>
        <p:spPr>
          <a:xfrm>
            <a:off x="6291516" y="5219700"/>
            <a:ext cx="25044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Atteinte des objectifs</a:t>
            </a:r>
            <a:endParaRPr lang="en-US" sz="1350" dirty="0"/>
          </a:p>
        </p:txBody>
      </p:sp>
      <p:sp>
        <p:nvSpPr>
          <p:cNvPr id="30" name="Text 8"/>
          <p:cNvSpPr/>
          <p:nvPr/>
        </p:nvSpPr>
        <p:spPr>
          <a:xfrm>
            <a:off x="6456521" y="5562600"/>
            <a:ext cx="217455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atteindre leurs objectifs</a:t>
            </a:r>
            <a:endParaRPr lang="en-US" sz="1200" dirty="0"/>
          </a:p>
        </p:txBody>
      </p:sp>
      <p:sp>
        <p:nvSpPr>
          <p:cNvPr id="31" name="Text 9"/>
          <p:cNvSpPr/>
          <p:nvPr/>
        </p:nvSpPr>
        <p:spPr>
          <a:xfrm>
            <a:off x="9333741" y="5219700"/>
            <a:ext cx="221116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Stabilité financière</a:t>
            </a:r>
            <a:endParaRPr lang="en-US" sz="1350" dirty="0"/>
          </a:p>
        </p:txBody>
      </p:sp>
      <p:sp>
        <p:nvSpPr>
          <p:cNvPr id="32" name="Text 10"/>
          <p:cNvSpPr/>
          <p:nvPr/>
        </p:nvSpPr>
        <p:spPr>
          <a:xfrm>
            <a:off x="9004236" y="5562600"/>
            <a:ext cx="28701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construire une stabilité durable</a:t>
            </a:r>
            <a:endParaRPr lang="en-US" sz="1200" dirty="0"/>
          </a:p>
        </p:txBody>
      </p:sp>
      <p:sp>
        <p:nvSpPr>
          <p:cNvPr id="33" name="Text 11"/>
          <p:cNvSpPr/>
          <p:nvPr/>
        </p:nvSpPr>
        <p:spPr>
          <a:xfrm>
            <a:off x="381000" y="6210300"/>
            <a:ext cx="268140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Version Bootcamp IA UniPods</a:t>
            </a:r>
            <a:endParaRPr lang="en-US" sz="1200" dirty="0"/>
          </a:p>
        </p:txBody>
      </p:sp>
      <p:sp>
        <p:nvSpPr>
          <p:cNvPr id="34" name="Text 12"/>
          <p:cNvSpPr/>
          <p:nvPr/>
        </p:nvSpPr>
        <p:spPr>
          <a:xfrm>
            <a:off x="9703147" y="6210300"/>
            <a:ext cx="198078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Page 10 | Vision 2035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715</Words>
  <Application>Microsoft Office PowerPoint</Application>
  <PresentationFormat>Grand écran</PresentationFormat>
  <Paragraphs>145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ui-sans-serif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barakissa soura</cp:lastModifiedBy>
  <cp:revision>1</cp:revision>
  <dcterms:created xsi:type="dcterms:W3CDTF">2025-11-19T23:25:44Z</dcterms:created>
  <dcterms:modified xsi:type="dcterms:W3CDTF">2025-11-19T23:29:02Z</dcterms:modified>
</cp:coreProperties>
</file>